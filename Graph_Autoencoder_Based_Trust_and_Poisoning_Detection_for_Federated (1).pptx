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66" r:id="rId3"/>
    <p:sldId id="257" r:id="rId4"/>
    <p:sldId id="258" r:id="rId5"/>
    <p:sldId id="264" r:id="rId6"/>
    <p:sldId id="260" r:id="rId7"/>
    <p:sldId id="261" r:id="rId8"/>
    <p:sldId id="265" r:id="rId9"/>
    <p:sldId id="267" r:id="rId10"/>
    <p:sldId id="263" r:id="rId11"/>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idi Sreeja" userId="05a9b698f3cb8b57" providerId="LiveId" clId="{857BDDE7-CCEA-416F-9EF7-1A33898C4A5F}"/>
    <pc:docChg chg="custSel modSld">
      <pc:chgData name="Paidi Sreeja" userId="05a9b698f3cb8b57" providerId="LiveId" clId="{857BDDE7-CCEA-416F-9EF7-1A33898C4A5F}" dt="2026-09-30T05:07:05.207" v="1" actId="21"/>
      <pc:docMkLst>
        <pc:docMk/>
      </pc:docMkLst>
      <pc:sldChg chg="delSp modSp mod">
        <pc:chgData name="Paidi Sreeja" userId="05a9b698f3cb8b57" providerId="LiveId" clId="{857BDDE7-CCEA-416F-9EF7-1A33898C4A5F}" dt="2026-09-30T05:07:05.207" v="1" actId="21"/>
        <pc:sldMkLst>
          <pc:docMk/>
          <pc:sldMk cId="0" sldId="261"/>
        </pc:sldMkLst>
        <pc:spChg chg="del mod">
          <ac:chgData name="Paidi Sreeja" userId="05a9b698f3cb8b57" providerId="LiveId" clId="{857BDDE7-CCEA-416F-9EF7-1A33898C4A5F}" dt="2026-09-30T05:07:05.207" v="1" actId="21"/>
          <ac:spMkLst>
            <pc:docMk/>
            <pc:sldMk cId="0" sldId="261"/>
            <ac:spMk id="8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1A3FD236-DB81-42CC-A4D7-333E5A13C6AB}" type="datetimeFigureOut">
              <a:rPr lang="en-US" smtClean="0"/>
              <a:t>10/15/2026</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60145DB-052B-43BA-8B8C-9F57A2A73C8D}" type="slidenum">
              <a:rPr lang="en-US" smtClean="0"/>
              <a:t>‹#›</a:t>
            </a:fld>
            <a:endParaRPr lang="en-US"/>
          </a:p>
        </p:txBody>
      </p:sp>
    </p:spTree>
    <p:extLst>
      <p:ext uri="{BB962C8B-B14F-4D97-AF65-F5344CB8AC3E}">
        <p14:creationId xmlns:p14="http://schemas.microsoft.com/office/powerpoint/2010/main" val="1501447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0145DB-052B-43BA-8B8C-9F57A2A73C8D}" type="slidenum">
              <a:rPr lang="en-US" smtClean="0"/>
              <a:t>8</a:t>
            </a:fld>
            <a:endParaRPr lang="en-US"/>
          </a:p>
        </p:txBody>
      </p:sp>
    </p:spTree>
    <p:extLst>
      <p:ext uri="{BB962C8B-B14F-4D97-AF65-F5344CB8AC3E}">
        <p14:creationId xmlns:p14="http://schemas.microsoft.com/office/powerpoint/2010/main" val="1827647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D2701-0C96-4D3D-67B2-735A5E4F30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A3224-1CD6-D100-6C8F-A0287D2F03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79CAB-37FB-D0A7-8EC2-B72D2628B2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B844F1-FDB0-6728-2672-D08780C0A379}"/>
              </a:ext>
            </a:extLst>
          </p:cNvPr>
          <p:cNvSpPr>
            <a:spLocks noGrp="1"/>
          </p:cNvSpPr>
          <p:nvPr>
            <p:ph type="sldNum" sz="quarter" idx="5"/>
          </p:nvPr>
        </p:nvSpPr>
        <p:spPr/>
        <p:txBody>
          <a:bodyPr/>
          <a:lstStyle/>
          <a:p>
            <a:fld id="{C60145DB-052B-43BA-8B8C-9F57A2A73C8D}" type="slidenum">
              <a:rPr lang="en-US" smtClean="0"/>
              <a:t>9</a:t>
            </a:fld>
            <a:endParaRPr lang="en-US"/>
          </a:p>
        </p:txBody>
      </p:sp>
    </p:spTree>
    <p:extLst>
      <p:ext uri="{BB962C8B-B14F-4D97-AF65-F5344CB8AC3E}">
        <p14:creationId xmlns:p14="http://schemas.microsoft.com/office/powerpoint/2010/main" val="842282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u="none" strike="noStrike">
                <a:solidFill>
                  <a:schemeClr val="dk1">
                    <a:tint val="75000"/>
                  </a:schemeClr>
                </a:solidFill>
                <a:effectLst/>
                <a:uFillTx/>
                <a:latin typeface="Calibri"/>
              </a:defRPr>
            </a:lvl1pPr>
          </a:lstStyle>
          <a:p>
            <a:pPr indent="0"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A90D0F5A-FB2B-417E-AA31-298405E926CC}"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6"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7"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u="none" strike="noStrike">
                <a:solidFill>
                  <a:schemeClr val="dk1">
                    <a:tint val="75000"/>
                  </a:schemeClr>
                </a:solidFill>
                <a:effectLst/>
                <a:uFillTx/>
                <a:latin typeface="Calibri"/>
              </a:defRPr>
            </a:lvl1pPr>
          </a:lstStyle>
          <a:p>
            <a:pPr indent="0"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8"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9"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151FACEE-AD90-4F0C-A38E-AFD2028CEFF8}"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11"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12"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u="none" strike="noStrike">
                <a:solidFill>
                  <a:schemeClr val="dk1">
                    <a:tint val="75000"/>
                  </a:schemeClr>
                </a:solidFill>
                <a:effectLst/>
                <a:uFillTx/>
                <a:latin typeface="Calibri"/>
              </a:defRPr>
            </a:lvl1pPr>
          </a:lstStyle>
          <a:p>
            <a:pPr indent="0"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3"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4"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BCCC41CF-BC93-45BE-90BF-FAC1790EC4B7}"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16"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17"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u="none" strike="noStrike">
                <a:solidFill>
                  <a:schemeClr val="dk1">
                    <a:tint val="75000"/>
                  </a:schemeClr>
                </a:solidFill>
                <a:effectLst/>
                <a:uFillTx/>
                <a:latin typeface="Calibri"/>
              </a:defRPr>
            </a:lvl1pPr>
          </a:lstStyle>
          <a:p>
            <a:pPr indent="0"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8"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9"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4C7D7D2B-0D2C-4486-B1AE-ABD2A05D54F0}"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a:endParaRPr>
          </a:p>
        </p:txBody>
      </p:sp>
      <p:sp>
        <p:nvSpPr>
          <p:cNvPr id="21"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u="none" strike="noStrike">
                <a:solidFill>
                  <a:schemeClr val="dk1">
                    <a:tint val="75000"/>
                  </a:schemeClr>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2"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u="none" strike="noStrike">
                <a:solidFill>
                  <a:schemeClr val="dk1">
                    <a:tint val="75000"/>
                  </a:schemeClr>
                </a:solidFill>
                <a:effectLst/>
                <a:uFillTx/>
                <a:latin typeface="Calibri"/>
              </a:defRPr>
            </a:lvl1pPr>
          </a:lstStyle>
          <a:p>
            <a:pPr indent="0"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3"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4"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EC70E74B-9BD4-4E54-AE65-D26E40FAED56}"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26"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27"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u="none" strike="noStrike">
                <a:solidFill>
                  <a:schemeClr val="dk1">
                    <a:tint val="75000"/>
                  </a:schemeClr>
                </a:solidFill>
                <a:effectLst/>
                <a:uFillTx/>
                <a:latin typeface="Calibri"/>
              </a:defRPr>
            </a:lvl1pPr>
          </a:lstStyle>
          <a:p>
            <a:pPr indent="0"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9"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0"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0F6D0EEB-AB6B-479F-A937-02470440FD8C}"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32"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3"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4"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5"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6"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u="none" strike="noStrike">
                <a:solidFill>
                  <a:schemeClr val="dk1">
                    <a:tint val="75000"/>
                  </a:schemeClr>
                </a:solidFill>
                <a:effectLst/>
                <a:uFillTx/>
                <a:latin typeface="Calibri"/>
              </a:defRPr>
            </a:lvl1pPr>
          </a:lstStyle>
          <a:p>
            <a:pPr indent="0"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7"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8"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6FFEE727-1A71-47F1-A03D-2223A7F8B4BD}"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40"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u="none" strike="noStrike">
                <a:solidFill>
                  <a:schemeClr val="dk1">
                    <a:tint val="75000"/>
                  </a:schemeClr>
                </a:solidFill>
                <a:effectLst/>
                <a:uFillTx/>
                <a:latin typeface="Calibri"/>
              </a:defRPr>
            </a:lvl1pPr>
          </a:lstStyle>
          <a:p>
            <a:pPr indent="0"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1"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2"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B46BA814-CE47-4DF9-B546-315F4CAF2030}"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u="none" strike="noStrike">
                <a:solidFill>
                  <a:schemeClr val="dk1">
                    <a:tint val="75000"/>
                  </a:schemeClr>
                </a:solidFill>
                <a:effectLst/>
                <a:uFillTx/>
                <a:latin typeface="Calibri"/>
              </a:defRPr>
            </a:lvl1pPr>
          </a:lstStyle>
          <a:p>
            <a:pPr indent="0"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4"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5"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B224C454-BF91-4CCF-BF46-F2F6382CEB25}"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a:endParaRPr>
          </a:p>
        </p:txBody>
      </p:sp>
      <p:sp>
        <p:nvSpPr>
          <p:cNvPr id="47"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Fifth level</a:t>
            </a:r>
          </a:p>
        </p:txBody>
      </p:sp>
      <p:sp>
        <p:nvSpPr>
          <p:cNvPr id="48"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p>
        </p:txBody>
      </p:sp>
      <p:sp>
        <p:nvSpPr>
          <p:cNvPr id="49"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u="none" strike="noStrike">
                <a:solidFill>
                  <a:schemeClr val="dk1">
                    <a:tint val="75000"/>
                  </a:schemeClr>
                </a:solidFill>
                <a:effectLst/>
                <a:uFillTx/>
                <a:latin typeface="Calibri"/>
              </a:defRPr>
            </a:lvl1pPr>
          </a:lstStyle>
          <a:p>
            <a:pPr indent="0"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0"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1"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5EE1B88B-BD9D-42FC-A0D0-521D66A06E46}"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a:endParaRPr>
          </a:p>
        </p:txBody>
      </p:sp>
      <p:sp>
        <p:nvSpPr>
          <p:cNvPr id="53"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4"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p>
        </p:txBody>
      </p:sp>
      <p:sp>
        <p:nvSpPr>
          <p:cNvPr id="55"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u="none" strike="noStrike">
                <a:solidFill>
                  <a:schemeClr val="dk1">
                    <a:tint val="75000"/>
                  </a:schemeClr>
                </a:solidFill>
                <a:effectLst/>
                <a:uFillTx/>
                <a:latin typeface="Calibri"/>
              </a:defRPr>
            </a:lvl1pPr>
          </a:lstStyle>
          <a:p>
            <a:pPr indent="0"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6"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7"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044C5C38-79F0-4E26-B02E-CC9938CC7B97}"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rmAutofit/>
          </a:bodyPr>
          <a:lstStyle/>
          <a:p>
            <a:pPr indent="0" algn="ctr" defTabSz="914400">
              <a:lnSpc>
                <a:spcPct val="90000"/>
              </a:lnSpc>
              <a:buNone/>
            </a:pPr>
            <a:r>
              <a:rPr lang="en-US" sz="4000" b="1" u="none" strike="noStrike">
                <a:solidFill>
                  <a:srgbClr val="142D4B"/>
                </a:solidFill>
                <a:effectLst/>
                <a:uFillTx/>
                <a:latin typeface="Aptos"/>
              </a:rPr>
              <a:t>Graph Autoencoder-Based Trust and Poisoning Detection for Federated Wireless Edge Networks</a:t>
            </a:r>
            <a:endParaRPr lang="en-US" sz="4000" b="0" u="none" strike="noStrike">
              <a:solidFill>
                <a:schemeClr val="dk1"/>
              </a:solidFill>
              <a:effectLst/>
              <a:uFillTx/>
              <a:latin typeface="Calibri"/>
            </a:endParaRPr>
          </a:p>
        </p:txBody>
      </p:sp>
      <p:sp>
        <p:nvSpPr>
          <p:cNvPr id="59"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rmAutofit lnSpcReduction="10000"/>
          </a:bodyPr>
          <a:lstStyle/>
          <a:p>
            <a:pPr indent="0" defTabSz="914400">
              <a:lnSpc>
                <a:spcPct val="90000"/>
              </a:lnSpc>
              <a:spcBef>
                <a:spcPts val="1001"/>
              </a:spcBef>
              <a:buNone/>
              <a:tabLst>
                <a:tab pos="0" algn="l"/>
              </a:tabLst>
            </a:pPr>
            <a:r>
              <a:rPr lang="en-IN" sz="2400" b="0" u="none" strike="noStrike">
                <a:solidFill>
                  <a:srgbClr val="232D37"/>
                </a:solidFill>
                <a:effectLst/>
                <a:uFillTx/>
                <a:latin typeface="Aptos"/>
              </a:rPr>
              <a:t>Team Member</a:t>
            </a:r>
            <a:endParaRPr lang="en-US" sz="2400" b="0" u="none" strike="noStrike">
              <a:solidFill>
                <a:srgbClr val="000000"/>
              </a:solidFill>
              <a:effectLst/>
              <a:uFillTx/>
              <a:latin typeface="Arial"/>
            </a:endParaRPr>
          </a:p>
          <a:p>
            <a:pPr indent="0" defTabSz="914400">
              <a:lnSpc>
                <a:spcPct val="90000"/>
              </a:lnSpc>
              <a:spcBef>
                <a:spcPts val="1001"/>
              </a:spcBef>
              <a:buNone/>
              <a:tabLst>
                <a:tab pos="0" algn="l"/>
              </a:tabLst>
            </a:pPr>
            <a:r>
              <a:rPr lang="en-IN" sz="2400" b="0" u="none" strike="noStrike">
                <a:solidFill>
                  <a:srgbClr val="232D37"/>
                </a:solidFill>
                <a:effectLst/>
                <a:uFillTx/>
                <a:latin typeface="Aptos"/>
              </a:rPr>
              <a:t>2520040073-S.Prabhu</a:t>
            </a:r>
            <a:endParaRPr lang="en-US" sz="2400" b="0" u="none" strike="noStrike">
              <a:solidFill>
                <a:srgbClr val="000000"/>
              </a:solidFill>
              <a:effectLst/>
              <a:uFillTx/>
              <a:latin typeface="Arial"/>
            </a:endParaRPr>
          </a:p>
          <a:p>
            <a:pPr indent="0" defTabSz="914400">
              <a:lnSpc>
                <a:spcPct val="90000"/>
              </a:lnSpc>
              <a:spcBef>
                <a:spcPts val="1001"/>
              </a:spcBef>
              <a:buNone/>
              <a:tabLst>
                <a:tab pos="0" algn="l"/>
              </a:tabLst>
            </a:pPr>
            <a:r>
              <a:rPr lang="en-IN" sz="2400" b="0" u="none" strike="noStrike">
                <a:solidFill>
                  <a:srgbClr val="232D37"/>
                </a:solidFill>
                <a:effectLst/>
                <a:uFillTx/>
                <a:latin typeface="Aptos"/>
              </a:rPr>
              <a:t>2520040090-P.Manikanth</a:t>
            </a:r>
            <a:endParaRPr lang="en-US" sz="2400" b="0" u="none" strike="noStrike">
              <a:solidFill>
                <a:srgbClr val="000000"/>
              </a:solidFill>
              <a:effectLst/>
              <a:uFillTx/>
              <a:latin typeface="Arial"/>
            </a:endParaRPr>
          </a:p>
          <a:p>
            <a:pPr indent="0" defTabSz="914400">
              <a:lnSpc>
                <a:spcPct val="90000"/>
              </a:lnSpc>
              <a:spcBef>
                <a:spcPts val="1001"/>
              </a:spcBef>
              <a:buNone/>
              <a:tabLst>
                <a:tab pos="0" algn="l"/>
              </a:tabLst>
            </a:pPr>
            <a:r>
              <a:rPr lang="en-IN" sz="2400" b="0" u="none" strike="noStrike">
                <a:solidFill>
                  <a:srgbClr val="232D37"/>
                </a:solidFill>
                <a:effectLst/>
                <a:uFillTx/>
                <a:latin typeface="Aptos"/>
              </a:rPr>
              <a:t>2520040100-L.Gunashekar</a:t>
            </a:r>
            <a:endParaRPr lang="en-US" sz="2400" b="0" u="none" strike="noStrike">
              <a:solidFill>
                <a:srgbClr val="000000"/>
              </a:solidFill>
              <a:effectLst/>
              <a:uFillTx/>
              <a:latin typeface="Arial"/>
            </a:endParaRPr>
          </a:p>
          <a:p>
            <a:pPr indent="0" defTabSz="914400">
              <a:lnSpc>
                <a:spcPct val="90000"/>
              </a:lnSpc>
              <a:spcBef>
                <a:spcPts val="1001"/>
              </a:spcBef>
              <a:buNone/>
              <a:tabLst>
                <a:tab pos="0" algn="l"/>
              </a:tabLst>
            </a:pPr>
            <a:endParaRPr lang="en-US" sz="2400" b="0" u="none" strike="noStrike">
              <a:solidFill>
                <a:srgbClr val="000000"/>
              </a:solidFill>
              <a:effectLst/>
              <a:uFillTx/>
              <a:latin typeface="Arial"/>
            </a:endParaRPr>
          </a:p>
        </p:txBody>
      </p:sp>
      <p:sp>
        <p:nvSpPr>
          <p:cNvPr id="60" name="Rectangle 3"/>
          <p:cNvSpPr/>
          <p:nvPr/>
        </p:nvSpPr>
        <p:spPr>
          <a:xfrm>
            <a:off x="0" y="0"/>
            <a:ext cx="12191760" cy="219600"/>
          </a:xfrm>
          <a:prstGeom prst="rect">
            <a:avLst/>
          </a:prstGeom>
          <a:solidFill>
            <a:srgbClr val="142D4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1" name="Rectangle 4"/>
          <p:cNvSpPr/>
          <p:nvPr/>
        </p:nvSpPr>
        <p:spPr>
          <a:xfrm>
            <a:off x="0" y="6768000"/>
            <a:ext cx="12191760" cy="8964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a:extLst>
            <a:ext uri="{FF2B5EF4-FFF2-40B4-BE49-F238E27FC236}">
              <a16:creationId xmlns:a16="http://schemas.microsoft.com/office/drawing/2014/main" id="{30CF8B33-C53F-E7A7-0688-9E6119696C1B}"/>
            </a:ext>
          </a:extLst>
        </p:cNvPr>
        <p:cNvGrpSpPr/>
        <p:nvPr/>
      </p:nvGrpSpPr>
      <p:grpSpPr>
        <a:xfrm>
          <a:off x="0" y="0"/>
          <a:ext cx="0" cy="0"/>
          <a:chOff x="0" y="0"/>
          <a:chExt cx="0" cy="0"/>
        </a:xfrm>
      </p:grpSpPr>
      <p:sp>
        <p:nvSpPr>
          <p:cNvPr id="58" name="PlaceHolder 1">
            <a:extLst>
              <a:ext uri="{FF2B5EF4-FFF2-40B4-BE49-F238E27FC236}">
                <a16:creationId xmlns:a16="http://schemas.microsoft.com/office/drawing/2014/main" id="{BE214F9A-BB7E-395E-CFB9-36459B0095BA}"/>
              </a:ext>
            </a:extLst>
          </p:cNvPr>
          <p:cNvSpPr>
            <a:spLocks noGrp="1"/>
          </p:cNvSpPr>
          <p:nvPr>
            <p:ph type="title"/>
          </p:nvPr>
        </p:nvSpPr>
        <p:spPr>
          <a:xfrm>
            <a:off x="1523880" y="489905"/>
            <a:ext cx="9143640" cy="816428"/>
          </a:xfrm>
          <a:prstGeom prst="rect">
            <a:avLst/>
          </a:prstGeom>
          <a:noFill/>
          <a:ln w="0">
            <a:noFill/>
          </a:ln>
        </p:spPr>
        <p:txBody>
          <a:bodyPr lIns="91440" tIns="45720" rIns="91440" bIns="45720" anchor="b">
            <a:normAutofit/>
          </a:bodyPr>
          <a:lstStyle/>
          <a:p>
            <a:pPr indent="0" defTabSz="914400">
              <a:lnSpc>
                <a:spcPct val="90000"/>
              </a:lnSpc>
              <a:buNone/>
            </a:pPr>
            <a:r>
              <a:rPr lang="en-US" sz="4000" b="1" u="none" strike="noStrike" dirty="0">
                <a:solidFill>
                  <a:schemeClr val="dk1"/>
                </a:solidFill>
                <a:effectLst/>
                <a:uFillTx/>
                <a:latin typeface="Calibri"/>
              </a:rPr>
              <a:t>Introduction</a:t>
            </a:r>
          </a:p>
        </p:txBody>
      </p:sp>
      <p:sp>
        <p:nvSpPr>
          <p:cNvPr id="59" name="PlaceHolder 2">
            <a:extLst>
              <a:ext uri="{FF2B5EF4-FFF2-40B4-BE49-F238E27FC236}">
                <a16:creationId xmlns:a16="http://schemas.microsoft.com/office/drawing/2014/main" id="{B7245FCA-F1F5-6C26-D524-AB1CB508220B}"/>
              </a:ext>
            </a:extLst>
          </p:cNvPr>
          <p:cNvSpPr>
            <a:spLocks noGrp="1"/>
          </p:cNvSpPr>
          <p:nvPr>
            <p:ph type="subTitle"/>
          </p:nvPr>
        </p:nvSpPr>
        <p:spPr>
          <a:xfrm>
            <a:off x="1523880" y="1447038"/>
            <a:ext cx="9143640" cy="3963924"/>
          </a:xfrm>
          <a:prstGeom prst="rect">
            <a:avLst/>
          </a:prstGeom>
          <a:noFill/>
          <a:ln w="0">
            <a:noFill/>
          </a:ln>
        </p:spPr>
        <p:txBody>
          <a:bodyPr lIns="91440" tIns="45720" rIns="91440" bIns="45720" anchor="t">
            <a:normAutofit/>
          </a:bodyPr>
          <a:lstStyle/>
          <a:p>
            <a:pPr>
              <a:lnSpc>
                <a:spcPct val="100000"/>
              </a:lnSpc>
            </a:pPr>
            <a:r>
              <a:rPr lang="en-US" sz="2400" dirty="0"/>
              <a:t>Federated Learning (FL) allows multiple devices to train a shared model without sharing their raw data. However, malicious clients may send poisoned updates that affect model performance.</a:t>
            </a:r>
          </a:p>
          <a:p>
            <a:pPr>
              <a:lnSpc>
                <a:spcPct val="100000"/>
              </a:lnSpc>
            </a:pPr>
            <a:r>
              <a:rPr lang="en-US" sz="2400" dirty="0"/>
              <a:t>Our project uses a Graph Autoencoder (GAE) to detect suspicious clients by analyzing their model updates and relationships. It creates a similarity graph, identifies unusual behavior using anomaly scores, and calculates trust scores for clients. The system uses the MNIST dataset, a CNN model, Federated Averaging (</a:t>
            </a:r>
            <a:r>
              <a:rPr lang="en-US" sz="2400" dirty="0" err="1"/>
              <a:t>FedAvg</a:t>
            </a:r>
            <a:r>
              <a:rPr lang="en-US" sz="2400" dirty="0"/>
              <a:t>), and label-flipping attacks. The main goal is to detect malicious clients and improve the security and reliability of federated learning.</a:t>
            </a:r>
          </a:p>
          <a:p>
            <a:pPr indent="0" defTabSz="914400">
              <a:lnSpc>
                <a:spcPct val="90000"/>
              </a:lnSpc>
              <a:spcBef>
                <a:spcPts val="1001"/>
              </a:spcBef>
              <a:buNone/>
              <a:tabLst>
                <a:tab pos="0" algn="l"/>
              </a:tabLst>
            </a:pPr>
            <a:endParaRPr lang="en-US" sz="2400" b="0" u="none" strike="noStrike" dirty="0">
              <a:solidFill>
                <a:srgbClr val="000000"/>
              </a:solidFill>
              <a:effectLst/>
              <a:uFillTx/>
              <a:latin typeface="Arial"/>
            </a:endParaRPr>
          </a:p>
        </p:txBody>
      </p:sp>
      <p:sp>
        <p:nvSpPr>
          <p:cNvPr id="60" name="Rectangle 3">
            <a:extLst>
              <a:ext uri="{FF2B5EF4-FFF2-40B4-BE49-F238E27FC236}">
                <a16:creationId xmlns:a16="http://schemas.microsoft.com/office/drawing/2014/main" id="{D23CC0F6-3E29-8C67-6CAE-EE803B39A3A8}"/>
              </a:ext>
            </a:extLst>
          </p:cNvPr>
          <p:cNvSpPr/>
          <p:nvPr/>
        </p:nvSpPr>
        <p:spPr>
          <a:xfrm>
            <a:off x="0" y="0"/>
            <a:ext cx="12191760" cy="219600"/>
          </a:xfrm>
          <a:prstGeom prst="rect">
            <a:avLst/>
          </a:prstGeom>
          <a:solidFill>
            <a:srgbClr val="142D4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1" name="Rectangle 4">
            <a:extLst>
              <a:ext uri="{FF2B5EF4-FFF2-40B4-BE49-F238E27FC236}">
                <a16:creationId xmlns:a16="http://schemas.microsoft.com/office/drawing/2014/main" id="{BDA7C323-9A67-9FD9-B0FD-B3D5BC8A3904}"/>
              </a:ext>
            </a:extLst>
          </p:cNvPr>
          <p:cNvSpPr/>
          <p:nvPr/>
        </p:nvSpPr>
        <p:spPr>
          <a:xfrm>
            <a:off x="0" y="6768000"/>
            <a:ext cx="12191760" cy="8964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extLst>
      <p:ext uri="{BB962C8B-B14F-4D97-AF65-F5344CB8AC3E}">
        <p14:creationId xmlns:p14="http://schemas.microsoft.com/office/powerpoint/2010/main" val="407058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512640"/>
            <a:ext cx="10515240" cy="1312560"/>
          </a:xfrm>
          <a:prstGeom prst="rect">
            <a:avLst/>
          </a:prstGeom>
          <a:noFill/>
          <a:ln w="0">
            <a:noFill/>
          </a:ln>
        </p:spPr>
        <p:txBody>
          <a:bodyPr lIns="91440" tIns="45720" rIns="91440" bIns="45720" anchor="ctr">
            <a:noAutofit/>
          </a:bodyPr>
          <a:lstStyle/>
          <a:p>
            <a:pPr indent="0" defTabSz="914400">
              <a:lnSpc>
                <a:spcPct val="90000"/>
              </a:lnSpc>
              <a:buNone/>
            </a:pPr>
            <a:r>
              <a:rPr lang="en-IN" sz="4400" b="1" u="none" strike="noStrike">
                <a:solidFill>
                  <a:srgbClr val="142D4B"/>
                </a:solidFill>
                <a:effectLst/>
                <a:uFillTx/>
                <a:latin typeface="Aptos Display"/>
              </a:rPr>
              <a:t>Problem Statement</a:t>
            </a:r>
            <a:endParaRPr lang="en-US" sz="4400" b="0" u="none" strike="noStrike">
              <a:solidFill>
                <a:schemeClr val="dk1"/>
              </a:solidFill>
              <a:effectLst/>
              <a:uFillTx/>
              <a:latin typeface="Calibri"/>
            </a:endParaRPr>
          </a:p>
        </p:txBody>
      </p:sp>
      <p:sp>
        <p:nvSpPr>
          <p:cNvPr id="63"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fontScale="92500" lnSpcReduction="10000"/>
          </a:bodyPr>
          <a:lstStyle/>
          <a:p>
            <a:pPr indent="0" algn="just" defTabSz="914400">
              <a:lnSpc>
                <a:spcPct val="120000"/>
              </a:lnSpc>
              <a:spcBef>
                <a:spcPts val="1001"/>
              </a:spcBef>
              <a:buNone/>
              <a:tabLst>
                <a:tab pos="0" algn="l"/>
              </a:tabLst>
            </a:pPr>
            <a:r>
              <a:rPr lang="en-US" sz="2400" b="0" u="none" strike="noStrike" dirty="0">
                <a:solidFill>
                  <a:srgbClr val="232D37"/>
                </a:solidFill>
                <a:effectLst/>
                <a:uFillTx/>
                <a:latin typeface="Aptos"/>
              </a:rPr>
              <a:t>In federated learning, multiple edge devices train a common model. Some devices may be malicious and send poisoned updates that can affect the global model. Our project uses a Graph Autoencoder to analyze the behavior of clients and identify suspicious clients using anomaly and trust scores.</a:t>
            </a:r>
            <a:endParaRPr lang="en-US" sz="2400" b="0" u="none" strike="noStrike" dirty="0">
              <a:solidFill>
                <a:schemeClr val="dk1"/>
              </a:solidFill>
              <a:effectLst/>
              <a:uFillTx/>
              <a:latin typeface="Calibri"/>
            </a:endParaRPr>
          </a:p>
          <a:p>
            <a:pPr indent="0" defTabSz="914400">
              <a:lnSpc>
                <a:spcPct val="120000"/>
              </a:lnSpc>
              <a:spcBef>
                <a:spcPts val="1001"/>
              </a:spcBef>
              <a:buNone/>
              <a:tabLst>
                <a:tab pos="0" algn="l"/>
              </a:tabLst>
            </a:pPr>
            <a:r>
              <a:rPr lang="en-US" sz="2400" b="1" u="none" strike="noStrike" dirty="0">
                <a:solidFill>
                  <a:srgbClr val="232D37"/>
                </a:solidFill>
                <a:effectLst/>
                <a:uFillTx/>
                <a:latin typeface="Aptos"/>
              </a:rPr>
              <a:t>   Objectives:</a:t>
            </a:r>
            <a:endParaRPr lang="en-US" sz="2400" b="1" u="none" strike="noStrike" dirty="0">
              <a:solidFill>
                <a:schemeClr val="dk1"/>
              </a:solidFill>
              <a:effectLst/>
              <a:uFillTx/>
              <a:latin typeface="Calibri"/>
            </a:endParaRPr>
          </a:p>
          <a:p>
            <a:pPr marL="228600" indent="-228600" defTabSz="914400">
              <a:lnSpc>
                <a:spcPct val="90000"/>
              </a:lnSpc>
              <a:spcBef>
                <a:spcPts val="1001"/>
              </a:spcBef>
              <a:buClr>
                <a:srgbClr val="232D37"/>
              </a:buClr>
              <a:buFont typeface="Arial"/>
              <a:buChar char="•"/>
              <a:tabLst>
                <a:tab pos="0" algn="l"/>
              </a:tabLst>
            </a:pPr>
            <a:r>
              <a:rPr lang="en-US" sz="2000" b="0" u="none" strike="noStrike" dirty="0">
                <a:solidFill>
                  <a:srgbClr val="232D37"/>
                </a:solidFill>
                <a:effectLst/>
                <a:uFillTx/>
                <a:latin typeface="Aptos"/>
              </a:rPr>
              <a:t>Build a federated learning environment with multiple clients. </a:t>
            </a:r>
            <a:endParaRPr lang="en-US" sz="2000" b="0" u="none" strike="noStrike" dirty="0">
              <a:solidFill>
                <a:schemeClr val="dk1"/>
              </a:solidFill>
              <a:effectLst/>
              <a:uFillTx/>
              <a:latin typeface="Calibri"/>
            </a:endParaRPr>
          </a:p>
          <a:p>
            <a:pPr marL="228600" indent="-228600" defTabSz="914400">
              <a:lnSpc>
                <a:spcPct val="90000"/>
              </a:lnSpc>
              <a:spcBef>
                <a:spcPts val="1001"/>
              </a:spcBef>
              <a:buClr>
                <a:srgbClr val="232D37"/>
              </a:buClr>
              <a:buFont typeface="Arial"/>
              <a:buChar char="•"/>
              <a:tabLst>
                <a:tab pos="0" algn="l"/>
              </a:tabLst>
            </a:pPr>
            <a:r>
              <a:rPr lang="en-US" sz="2000" b="0" u="none" strike="noStrike" dirty="0">
                <a:solidFill>
                  <a:srgbClr val="232D37"/>
                </a:solidFill>
                <a:effectLst/>
                <a:uFillTx/>
                <a:latin typeface="Aptos"/>
              </a:rPr>
              <a:t>Simulate malicious clients using poisoning attacks. </a:t>
            </a:r>
            <a:endParaRPr lang="en-US" sz="2000" b="0" u="none" strike="noStrike" dirty="0">
              <a:solidFill>
                <a:schemeClr val="dk1"/>
              </a:solidFill>
              <a:effectLst/>
              <a:uFillTx/>
              <a:latin typeface="Calibri"/>
            </a:endParaRPr>
          </a:p>
          <a:p>
            <a:pPr marL="228600" indent="-228600" defTabSz="914400">
              <a:lnSpc>
                <a:spcPct val="90000"/>
              </a:lnSpc>
              <a:spcBef>
                <a:spcPts val="1001"/>
              </a:spcBef>
              <a:buClr>
                <a:srgbClr val="232D37"/>
              </a:buClr>
              <a:buFont typeface="Arial"/>
              <a:buChar char="•"/>
              <a:tabLst>
                <a:tab pos="0" algn="l"/>
              </a:tabLst>
            </a:pPr>
            <a:r>
              <a:rPr lang="en-US" sz="2000" b="0" u="none" strike="noStrike" dirty="0">
                <a:solidFill>
                  <a:srgbClr val="232D37"/>
                </a:solidFill>
                <a:effectLst/>
                <a:uFillTx/>
                <a:latin typeface="Aptos"/>
              </a:rPr>
              <a:t>Extract client model-update behavior. </a:t>
            </a:r>
            <a:endParaRPr lang="en-US" sz="2000" b="0" u="none" strike="noStrike" dirty="0">
              <a:solidFill>
                <a:schemeClr val="dk1"/>
              </a:solidFill>
              <a:effectLst/>
              <a:uFillTx/>
              <a:latin typeface="Calibri"/>
            </a:endParaRPr>
          </a:p>
          <a:p>
            <a:pPr marL="228600" indent="-228600" defTabSz="914400">
              <a:lnSpc>
                <a:spcPct val="90000"/>
              </a:lnSpc>
              <a:spcBef>
                <a:spcPts val="1001"/>
              </a:spcBef>
              <a:buClr>
                <a:srgbClr val="232D37"/>
              </a:buClr>
              <a:buFont typeface="Arial"/>
              <a:buChar char="•"/>
              <a:tabLst>
                <a:tab pos="0" algn="l"/>
              </a:tabLst>
            </a:pPr>
            <a:r>
              <a:rPr lang="en-US" sz="2000" b="0" u="none" strike="noStrike" dirty="0">
                <a:solidFill>
                  <a:srgbClr val="232D37"/>
                </a:solidFill>
                <a:effectLst/>
                <a:uFillTx/>
                <a:latin typeface="Aptos"/>
              </a:rPr>
              <a:t>Construct a similarity graph between clients. </a:t>
            </a:r>
            <a:endParaRPr lang="en-US" sz="2000" b="0" u="none" strike="noStrike" dirty="0">
              <a:solidFill>
                <a:schemeClr val="dk1"/>
              </a:solidFill>
              <a:effectLst/>
              <a:uFillTx/>
              <a:latin typeface="Calibri"/>
            </a:endParaRPr>
          </a:p>
          <a:p>
            <a:pPr marL="228600" indent="-228600" defTabSz="914400">
              <a:lnSpc>
                <a:spcPct val="90000"/>
              </a:lnSpc>
              <a:spcBef>
                <a:spcPts val="1001"/>
              </a:spcBef>
              <a:buClr>
                <a:srgbClr val="232D37"/>
              </a:buClr>
              <a:buFont typeface="Arial"/>
              <a:buChar char="•"/>
              <a:tabLst>
                <a:tab pos="0" algn="l"/>
              </a:tabLst>
            </a:pPr>
            <a:r>
              <a:rPr lang="en-US" sz="2000" b="0" u="none" strike="noStrike" dirty="0">
                <a:solidFill>
                  <a:srgbClr val="232D37"/>
                </a:solidFill>
                <a:effectLst/>
                <a:uFillTx/>
                <a:latin typeface="Aptos"/>
              </a:rPr>
              <a:t>Apply a Graph Autoencoder to learn client patterns. </a:t>
            </a:r>
            <a:endParaRPr lang="en-US" sz="2000" b="0" u="none" strike="noStrike" dirty="0">
              <a:solidFill>
                <a:schemeClr val="dk1"/>
              </a:solidFill>
              <a:effectLst/>
              <a:uFillTx/>
              <a:latin typeface="Calibri"/>
            </a:endParaRPr>
          </a:p>
          <a:p>
            <a:pPr marL="228600" indent="-228600" defTabSz="914400">
              <a:lnSpc>
                <a:spcPct val="90000"/>
              </a:lnSpc>
              <a:spcBef>
                <a:spcPts val="1001"/>
              </a:spcBef>
              <a:buClr>
                <a:srgbClr val="232D37"/>
              </a:buClr>
              <a:buFont typeface="Arial"/>
              <a:buChar char="•"/>
              <a:tabLst>
                <a:tab pos="0" algn="l"/>
              </a:tabLst>
            </a:pPr>
            <a:r>
              <a:rPr lang="en-US" sz="2000" b="0" u="none" strike="noStrike" dirty="0">
                <a:solidFill>
                  <a:srgbClr val="232D37"/>
                </a:solidFill>
                <a:effectLst/>
                <a:uFillTx/>
                <a:latin typeface="Aptos"/>
              </a:rPr>
              <a:t>Calculate anomaly and trust scores. </a:t>
            </a:r>
            <a:endParaRPr lang="en-US" sz="2000" b="0" u="none" strike="noStrike" dirty="0">
              <a:solidFill>
                <a:schemeClr val="dk1"/>
              </a:solidFill>
              <a:effectLst/>
              <a:uFillTx/>
              <a:latin typeface="Calibri"/>
            </a:endParaRPr>
          </a:p>
        </p:txBody>
      </p:sp>
      <p:sp>
        <p:nvSpPr>
          <p:cNvPr id="64" name="Rectangle 3"/>
          <p:cNvSpPr/>
          <p:nvPr/>
        </p:nvSpPr>
        <p:spPr>
          <a:xfrm>
            <a:off x="0" y="0"/>
            <a:ext cx="12191760" cy="219600"/>
          </a:xfrm>
          <a:prstGeom prst="rect">
            <a:avLst/>
          </a:prstGeom>
          <a:solidFill>
            <a:srgbClr val="142D4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5" name="Rectangle 4"/>
          <p:cNvSpPr/>
          <p:nvPr/>
        </p:nvSpPr>
        <p:spPr>
          <a:xfrm>
            <a:off x="0" y="6768000"/>
            <a:ext cx="12191760" cy="8964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IN" sz="4400" b="1" u="none" strike="noStrike">
                <a:solidFill>
                  <a:srgbClr val="142D4B"/>
                </a:solidFill>
                <a:effectLst/>
                <a:uFillTx/>
                <a:latin typeface="Aptos Display"/>
              </a:rPr>
              <a:t>Proposed Methodology</a:t>
            </a:r>
            <a:endParaRPr lang="en-US" sz="4400" b="0" u="none" strike="noStrike">
              <a:solidFill>
                <a:schemeClr val="dk1"/>
              </a:solidFill>
              <a:effectLst/>
              <a:uFillTx/>
              <a:latin typeface="Calibri"/>
            </a:endParaRPr>
          </a:p>
        </p:txBody>
      </p:sp>
      <p:sp>
        <p:nvSpPr>
          <p:cNvPr id="67" name="PlaceHolder 2"/>
          <p:cNvSpPr>
            <a:spLocks noGrp="1"/>
          </p:cNvSpPr>
          <p:nvPr>
            <p:ph/>
          </p:nvPr>
        </p:nvSpPr>
        <p:spPr>
          <a:xfrm>
            <a:off x="891499" y="183564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232D37"/>
              </a:buClr>
              <a:buFont typeface="Arial"/>
              <a:buChar char="•"/>
            </a:pPr>
            <a:r>
              <a:rPr lang="en-US" sz="2400" b="1" u="none" strike="noStrike" dirty="0">
                <a:solidFill>
                  <a:srgbClr val="232D37"/>
                </a:solidFill>
                <a:effectLst/>
                <a:uFillTx/>
                <a:latin typeface="Aptos"/>
              </a:rPr>
              <a:t>Federated Learning (FL)</a:t>
            </a:r>
            <a:r>
              <a:rPr lang="en-US" sz="2400" b="0" u="none" strike="noStrike" dirty="0">
                <a:solidFill>
                  <a:srgbClr val="232D37"/>
                </a:solidFill>
                <a:effectLst/>
                <a:uFillTx/>
                <a:latin typeface="Aptos"/>
              </a:rPr>
              <a:t> – provides the collaborative learning environment where multiple edge clients train a common model without sharing their raw data</a:t>
            </a:r>
            <a:endParaRPr lang="en-US" sz="2400" b="0" u="none" strike="noStrike" dirty="0">
              <a:solidFill>
                <a:schemeClr val="dk1"/>
              </a:solidFill>
              <a:effectLst/>
              <a:uFillTx/>
              <a:latin typeface="Calibri"/>
            </a:endParaRPr>
          </a:p>
          <a:p>
            <a:pPr marL="228600" indent="-228600" defTabSz="914400">
              <a:lnSpc>
                <a:spcPct val="90000"/>
              </a:lnSpc>
              <a:spcBef>
                <a:spcPts val="1001"/>
              </a:spcBef>
              <a:buClr>
                <a:srgbClr val="232D37"/>
              </a:buClr>
              <a:buFont typeface="Arial"/>
              <a:buChar char="•"/>
            </a:pPr>
            <a:r>
              <a:rPr lang="en-US" sz="2400" b="1" u="none" strike="noStrike" dirty="0">
                <a:solidFill>
                  <a:srgbClr val="232D37"/>
                </a:solidFill>
                <a:effectLst/>
                <a:uFillTx/>
                <a:latin typeface="Aptos"/>
              </a:rPr>
              <a:t>Graph Autoencoder (GAE)</a:t>
            </a:r>
            <a:r>
              <a:rPr lang="en-US" sz="2400" b="0" u="none" strike="noStrike" dirty="0">
                <a:solidFill>
                  <a:srgbClr val="232D37"/>
                </a:solidFill>
                <a:effectLst/>
                <a:uFillTx/>
                <a:latin typeface="Aptos"/>
              </a:rPr>
              <a:t> – analyzes the behavior of the clients to detect abnormal/malicious clients using reconstruction error, anomaly scores, and trust scores.</a:t>
            </a:r>
            <a:endParaRPr lang="en-US" sz="2400" b="0" u="none" strike="noStrike" dirty="0">
              <a:solidFill>
                <a:schemeClr val="dk1"/>
              </a:solidFill>
              <a:effectLst/>
              <a:uFillTx/>
              <a:latin typeface="Calibri"/>
            </a:endParaRPr>
          </a:p>
          <a:p>
            <a:pPr marL="228600" indent="-228600" defTabSz="914400">
              <a:lnSpc>
                <a:spcPct val="90000"/>
              </a:lnSpc>
              <a:spcBef>
                <a:spcPts val="1001"/>
              </a:spcBef>
              <a:buClr>
                <a:srgbClr val="232D37"/>
              </a:buClr>
              <a:buFont typeface="Arial"/>
              <a:buChar char="•"/>
            </a:pPr>
            <a:r>
              <a:rPr lang="en-IN" sz="2400" b="1" u="none" strike="noStrike" dirty="0">
                <a:solidFill>
                  <a:srgbClr val="232D37"/>
                </a:solidFill>
                <a:effectLst/>
                <a:uFillTx/>
                <a:latin typeface="Aptos"/>
              </a:rPr>
              <a:t>Federated Averaging -</a:t>
            </a:r>
            <a:r>
              <a:rPr lang="en-US" sz="2400" b="0" u="none" strike="noStrike" dirty="0">
                <a:solidFill>
                  <a:srgbClr val="232D37"/>
                </a:solidFill>
                <a:effectLst/>
                <a:uFillTx/>
                <a:latin typeface="Aptos"/>
              </a:rPr>
              <a:t>is an algorithm used in Federated Learning to combine the models trained by different clients.</a:t>
            </a:r>
            <a:endParaRPr lang="en-US" sz="2400" b="0" u="none" strike="noStrike" dirty="0">
              <a:solidFill>
                <a:schemeClr val="dk1"/>
              </a:solidFill>
              <a:effectLst/>
              <a:uFillTx/>
              <a:latin typeface="Calibri"/>
            </a:endParaRPr>
          </a:p>
        </p:txBody>
      </p:sp>
      <p:sp>
        <p:nvSpPr>
          <p:cNvPr id="68" name="Rectangle 3"/>
          <p:cNvSpPr/>
          <p:nvPr/>
        </p:nvSpPr>
        <p:spPr>
          <a:xfrm>
            <a:off x="0" y="0"/>
            <a:ext cx="12191760" cy="219600"/>
          </a:xfrm>
          <a:prstGeom prst="rect">
            <a:avLst/>
          </a:prstGeom>
          <a:solidFill>
            <a:srgbClr val="142D4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9" name="Rectangle 4"/>
          <p:cNvSpPr/>
          <p:nvPr/>
        </p:nvSpPr>
        <p:spPr>
          <a:xfrm>
            <a:off x="0" y="6768000"/>
            <a:ext cx="12191760" cy="8964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28600"/>
            <a:ext cx="11338560" cy="594360"/>
          </a:xfrm>
          <a:prstGeom prst="rect">
            <a:avLst/>
          </a:prstGeom>
          <a:noFill/>
        </p:spPr>
        <p:txBody>
          <a:bodyPr wrap="none">
            <a:spAutoFit/>
          </a:bodyPr>
          <a:lstStyle/>
          <a:p>
            <a:pPr>
              <a:defRPr sz="3000" b="1">
                <a:solidFill>
                  <a:srgbClr val="18375A"/>
                </a:solidFill>
              </a:defRPr>
            </a:pPr>
            <a:r>
              <a:t>Workflow of Project</a:t>
            </a:r>
          </a:p>
        </p:txBody>
      </p:sp>
      <p:sp>
        <p:nvSpPr>
          <p:cNvPr id="3" name="Rounded Rectangle 2"/>
          <p:cNvSpPr/>
          <p:nvPr/>
        </p:nvSpPr>
        <p:spPr>
          <a:xfrm>
            <a:off x="594360" y="1143000"/>
            <a:ext cx="5212080" cy="960120"/>
          </a:xfrm>
          <a:prstGeom prst="roundRect">
            <a:avLst/>
          </a:prstGeom>
          <a:solidFill>
            <a:srgbClr val="FFFFFF"/>
          </a:solidFill>
          <a:ln w="19050">
            <a:solidFill>
              <a:srgbClr val="466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22376" y="1298448"/>
            <a:ext cx="502920" cy="502920"/>
          </a:xfrm>
          <a:prstGeom prst="ellipse">
            <a:avLst/>
          </a:prstGeom>
          <a:solidFill>
            <a:srgbClr val="18375A"/>
          </a:solidFill>
          <a:ln>
            <a:solidFill>
              <a:srgbClr val="1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1</a:t>
            </a:r>
          </a:p>
        </p:txBody>
      </p:sp>
      <p:sp>
        <p:nvSpPr>
          <p:cNvPr id="5" name="TextBox 4"/>
          <p:cNvSpPr txBox="1"/>
          <p:nvPr/>
        </p:nvSpPr>
        <p:spPr>
          <a:xfrm>
            <a:off x="1344168" y="1252728"/>
            <a:ext cx="3894271" cy="564257"/>
          </a:xfrm>
          <a:prstGeom prst="rect">
            <a:avLst/>
          </a:prstGeom>
          <a:noFill/>
        </p:spPr>
        <p:txBody>
          <a:bodyPr wrap="none">
            <a:spAutoFit/>
          </a:bodyPr>
          <a:lstStyle/>
          <a:p>
            <a:pPr>
              <a:defRPr sz="1700" b="1">
                <a:solidFill>
                  <a:srgbClr val="18375A"/>
                </a:solidFill>
              </a:defRPr>
            </a:pPr>
            <a:r>
              <a:rPr dirty="0"/>
              <a:t>Federated Learning</a:t>
            </a:r>
          </a:p>
          <a:p>
            <a:pPr>
              <a:spcBef>
                <a:spcPts val="200"/>
              </a:spcBef>
              <a:defRPr sz="1150">
                <a:solidFill>
                  <a:srgbClr val="37414B"/>
                </a:solidFill>
              </a:defRPr>
            </a:pPr>
            <a:r>
              <a:rPr lang="en-IN" sz="1200" dirty="0">
                <a:solidFill>
                  <a:srgbClr val="232D37"/>
                </a:solidFill>
                <a:latin typeface="Aptos"/>
              </a:rPr>
              <a:t>Multiple edge clients participate in collaborative training</a:t>
            </a:r>
            <a:endParaRPr dirty="0"/>
          </a:p>
        </p:txBody>
      </p:sp>
      <p:sp>
        <p:nvSpPr>
          <p:cNvPr id="6" name="Rounded Rectangle 5"/>
          <p:cNvSpPr/>
          <p:nvPr/>
        </p:nvSpPr>
        <p:spPr>
          <a:xfrm>
            <a:off x="594360" y="2267712"/>
            <a:ext cx="5212080" cy="960120"/>
          </a:xfrm>
          <a:prstGeom prst="roundRect">
            <a:avLst/>
          </a:prstGeom>
          <a:solidFill>
            <a:srgbClr val="FFFFFF"/>
          </a:solidFill>
          <a:ln w="19050">
            <a:solidFill>
              <a:srgbClr val="466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22376" y="2423160"/>
            <a:ext cx="502920" cy="502920"/>
          </a:xfrm>
          <a:prstGeom prst="ellipse">
            <a:avLst/>
          </a:prstGeom>
          <a:solidFill>
            <a:srgbClr val="18375A"/>
          </a:solidFill>
          <a:ln>
            <a:solidFill>
              <a:srgbClr val="1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2</a:t>
            </a:r>
          </a:p>
        </p:txBody>
      </p:sp>
      <p:sp>
        <p:nvSpPr>
          <p:cNvPr id="8" name="TextBox 7"/>
          <p:cNvSpPr txBox="1"/>
          <p:nvPr/>
        </p:nvSpPr>
        <p:spPr>
          <a:xfrm>
            <a:off x="1344168" y="2377440"/>
            <a:ext cx="3303981" cy="564257"/>
          </a:xfrm>
          <a:prstGeom prst="rect">
            <a:avLst/>
          </a:prstGeom>
          <a:noFill/>
        </p:spPr>
        <p:txBody>
          <a:bodyPr wrap="none">
            <a:spAutoFit/>
          </a:bodyPr>
          <a:lstStyle/>
          <a:p>
            <a:pPr>
              <a:defRPr sz="1700" b="1">
                <a:solidFill>
                  <a:srgbClr val="18375A"/>
                </a:solidFill>
              </a:defRPr>
            </a:pPr>
            <a:r>
              <a:rPr dirty="0"/>
              <a:t>Local Training</a:t>
            </a:r>
          </a:p>
          <a:p>
            <a:pPr>
              <a:spcBef>
                <a:spcPts val="200"/>
              </a:spcBef>
              <a:defRPr sz="1150">
                <a:solidFill>
                  <a:srgbClr val="37414B"/>
                </a:solidFill>
              </a:defRPr>
            </a:pPr>
            <a:r>
              <a:rPr lang="en-US" sz="1200" dirty="0">
                <a:solidFill>
                  <a:srgbClr val="232D37"/>
                </a:solidFill>
                <a:latin typeface="Aptos"/>
              </a:rPr>
              <a:t>Each client trains the model using its own data.</a:t>
            </a:r>
            <a:endParaRPr dirty="0"/>
          </a:p>
        </p:txBody>
      </p:sp>
      <p:sp>
        <p:nvSpPr>
          <p:cNvPr id="9" name="Rounded Rectangle 8"/>
          <p:cNvSpPr/>
          <p:nvPr/>
        </p:nvSpPr>
        <p:spPr>
          <a:xfrm>
            <a:off x="594360" y="3392424"/>
            <a:ext cx="5212080" cy="960120"/>
          </a:xfrm>
          <a:prstGeom prst="roundRect">
            <a:avLst/>
          </a:prstGeom>
          <a:solidFill>
            <a:srgbClr val="FFFFFF"/>
          </a:solidFill>
          <a:ln w="19050">
            <a:solidFill>
              <a:srgbClr val="466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22376" y="3547872"/>
            <a:ext cx="502920" cy="502920"/>
          </a:xfrm>
          <a:prstGeom prst="ellipse">
            <a:avLst/>
          </a:prstGeom>
          <a:solidFill>
            <a:srgbClr val="18375A"/>
          </a:solidFill>
          <a:ln>
            <a:solidFill>
              <a:srgbClr val="1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3</a:t>
            </a:r>
          </a:p>
        </p:txBody>
      </p:sp>
      <p:sp>
        <p:nvSpPr>
          <p:cNvPr id="11" name="TextBox 10"/>
          <p:cNvSpPr txBox="1"/>
          <p:nvPr/>
        </p:nvSpPr>
        <p:spPr>
          <a:xfrm>
            <a:off x="1344168" y="3502152"/>
            <a:ext cx="4387329" cy="925894"/>
          </a:xfrm>
          <a:prstGeom prst="rect">
            <a:avLst/>
          </a:prstGeom>
          <a:noFill/>
        </p:spPr>
        <p:txBody>
          <a:bodyPr wrap="square">
            <a:spAutoFit/>
          </a:bodyPr>
          <a:lstStyle/>
          <a:p>
            <a:pPr>
              <a:defRPr sz="1700" b="1">
                <a:solidFill>
                  <a:srgbClr val="18375A"/>
                </a:solidFill>
              </a:defRPr>
            </a:pPr>
            <a:r>
              <a:rPr dirty="0"/>
              <a:t>Poisoning Attack</a:t>
            </a:r>
          </a:p>
          <a:p>
            <a:pPr>
              <a:spcBef>
                <a:spcPts val="200"/>
              </a:spcBef>
              <a:defRPr sz="1150">
                <a:solidFill>
                  <a:srgbClr val="37414B"/>
                </a:solidFill>
              </a:defRPr>
            </a:pPr>
            <a:r>
              <a:rPr lang="en-US" sz="1200" dirty="0">
                <a:solidFill>
                  <a:srgbClr val="232D37"/>
                </a:solidFill>
                <a:latin typeface="Aptos"/>
              </a:rPr>
              <a:t>Some clients send poisoned/malicious model updates.</a:t>
            </a:r>
            <a:br>
              <a:rPr lang="en-US" sz="1200" dirty="0"/>
            </a:br>
            <a:br>
              <a:rPr lang="en-US" sz="1200" dirty="0"/>
            </a:br>
            <a:endParaRPr dirty="0"/>
          </a:p>
        </p:txBody>
      </p:sp>
      <p:sp>
        <p:nvSpPr>
          <p:cNvPr id="12" name="Rounded Rectangle 11"/>
          <p:cNvSpPr/>
          <p:nvPr/>
        </p:nvSpPr>
        <p:spPr>
          <a:xfrm>
            <a:off x="594360" y="4517136"/>
            <a:ext cx="5212080" cy="960120"/>
          </a:xfrm>
          <a:prstGeom prst="roundRect">
            <a:avLst/>
          </a:prstGeom>
          <a:solidFill>
            <a:srgbClr val="FFFFFF"/>
          </a:solidFill>
          <a:ln w="19050">
            <a:solidFill>
              <a:srgbClr val="466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22376" y="4672583"/>
            <a:ext cx="502920" cy="502920"/>
          </a:xfrm>
          <a:prstGeom prst="ellipse">
            <a:avLst/>
          </a:prstGeom>
          <a:solidFill>
            <a:srgbClr val="18375A"/>
          </a:solidFill>
          <a:ln>
            <a:solidFill>
              <a:srgbClr val="1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4</a:t>
            </a:r>
          </a:p>
        </p:txBody>
      </p:sp>
      <p:sp>
        <p:nvSpPr>
          <p:cNvPr id="14" name="TextBox 13"/>
          <p:cNvSpPr txBox="1"/>
          <p:nvPr/>
        </p:nvSpPr>
        <p:spPr>
          <a:xfrm>
            <a:off x="1344168" y="4626864"/>
            <a:ext cx="4334256" cy="1036181"/>
          </a:xfrm>
          <a:prstGeom prst="rect">
            <a:avLst/>
          </a:prstGeom>
          <a:noFill/>
        </p:spPr>
        <p:txBody>
          <a:bodyPr wrap="square">
            <a:spAutoFit/>
          </a:bodyPr>
          <a:lstStyle/>
          <a:p>
            <a:pPr>
              <a:defRPr sz="1700" b="1">
                <a:solidFill>
                  <a:srgbClr val="18375A"/>
                </a:solidFill>
              </a:defRPr>
            </a:pPr>
            <a:r>
              <a:rPr dirty="0"/>
              <a:t>FedAvg</a:t>
            </a:r>
          </a:p>
          <a:p>
            <a:pPr>
              <a:spcBef>
                <a:spcPts val="1001"/>
              </a:spcBef>
              <a:tabLst>
                <a:tab pos="0" algn="l"/>
              </a:tabLst>
            </a:pPr>
            <a:r>
              <a:rPr lang="en-US" sz="1200" b="0" u="none" strike="noStrike" dirty="0">
                <a:solidFill>
                  <a:srgbClr val="232D37"/>
                </a:solidFill>
                <a:effectLst/>
                <a:uFillTx/>
                <a:latin typeface="Aptos"/>
              </a:rPr>
              <a:t>The server combines the local client models to create the global model.</a:t>
            </a:r>
            <a:br>
              <a:rPr lang="en-US" sz="1200" dirty="0"/>
            </a:br>
            <a:endParaRPr lang="en-US" sz="1200" dirty="0">
              <a:solidFill>
                <a:schemeClr val="dk1"/>
              </a:solidFill>
            </a:endParaRPr>
          </a:p>
        </p:txBody>
      </p:sp>
      <p:sp>
        <p:nvSpPr>
          <p:cNvPr id="15" name="Rounded Rectangle 14"/>
          <p:cNvSpPr/>
          <p:nvPr/>
        </p:nvSpPr>
        <p:spPr>
          <a:xfrm>
            <a:off x="6172200" y="1143000"/>
            <a:ext cx="5212080" cy="960120"/>
          </a:xfrm>
          <a:prstGeom prst="roundRect">
            <a:avLst/>
          </a:prstGeom>
          <a:solidFill>
            <a:srgbClr val="FFFFFF"/>
          </a:solidFill>
          <a:ln w="19050">
            <a:solidFill>
              <a:srgbClr val="466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00216" y="1298448"/>
            <a:ext cx="502920" cy="502920"/>
          </a:xfrm>
          <a:prstGeom prst="ellipse">
            <a:avLst/>
          </a:prstGeom>
          <a:solidFill>
            <a:srgbClr val="18375A"/>
          </a:solidFill>
          <a:ln>
            <a:solidFill>
              <a:srgbClr val="1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5</a:t>
            </a:r>
          </a:p>
        </p:txBody>
      </p:sp>
      <p:sp>
        <p:nvSpPr>
          <p:cNvPr id="17" name="TextBox 16"/>
          <p:cNvSpPr txBox="1"/>
          <p:nvPr/>
        </p:nvSpPr>
        <p:spPr>
          <a:xfrm>
            <a:off x="6931152" y="1208640"/>
            <a:ext cx="3951595" cy="943400"/>
          </a:xfrm>
          <a:prstGeom prst="rect">
            <a:avLst/>
          </a:prstGeom>
          <a:noFill/>
        </p:spPr>
        <p:txBody>
          <a:bodyPr wrap="none">
            <a:spAutoFit/>
          </a:bodyPr>
          <a:lstStyle/>
          <a:p>
            <a:pPr>
              <a:defRPr sz="1700" b="1">
                <a:solidFill>
                  <a:srgbClr val="18375A"/>
                </a:solidFill>
              </a:defRPr>
            </a:pPr>
            <a:r>
              <a:rPr dirty="0"/>
              <a:t>Client Similarity Graph</a:t>
            </a:r>
          </a:p>
          <a:p>
            <a:pPr>
              <a:lnSpc>
                <a:spcPct val="90000"/>
              </a:lnSpc>
              <a:spcBef>
                <a:spcPts val="1001"/>
              </a:spcBef>
              <a:tabLst>
                <a:tab pos="0" algn="l"/>
              </a:tabLst>
            </a:pPr>
            <a:r>
              <a:rPr lang="en-US" sz="1200" b="0" u="none" strike="noStrike" dirty="0">
                <a:solidFill>
                  <a:srgbClr val="232D37"/>
                </a:solidFill>
                <a:effectLst/>
                <a:uFillTx/>
                <a:latin typeface="Aptos"/>
              </a:rPr>
              <a:t>Relationships between clients are created based on their</a:t>
            </a:r>
            <a:endParaRPr lang="en-US" sz="1200" dirty="0">
              <a:solidFill>
                <a:schemeClr val="dk1"/>
              </a:solidFill>
            </a:endParaRPr>
          </a:p>
          <a:p>
            <a:pPr>
              <a:lnSpc>
                <a:spcPct val="90000"/>
              </a:lnSpc>
              <a:spcBef>
                <a:spcPts val="1001"/>
              </a:spcBef>
              <a:tabLst>
                <a:tab pos="0" algn="l"/>
              </a:tabLst>
            </a:pPr>
            <a:r>
              <a:rPr lang="en-US" sz="1200" b="0" u="none" strike="noStrike" dirty="0">
                <a:solidFill>
                  <a:srgbClr val="232D37"/>
                </a:solidFill>
                <a:effectLst/>
                <a:uFillTx/>
                <a:latin typeface="Aptos"/>
              </a:rPr>
              <a:t> model-update similarity</a:t>
            </a:r>
            <a:endParaRPr dirty="0"/>
          </a:p>
        </p:txBody>
      </p:sp>
      <p:sp>
        <p:nvSpPr>
          <p:cNvPr id="18" name="Rounded Rectangle 17"/>
          <p:cNvSpPr/>
          <p:nvPr/>
        </p:nvSpPr>
        <p:spPr>
          <a:xfrm>
            <a:off x="6172200" y="2267712"/>
            <a:ext cx="5212080" cy="960120"/>
          </a:xfrm>
          <a:prstGeom prst="roundRect">
            <a:avLst/>
          </a:prstGeom>
          <a:solidFill>
            <a:srgbClr val="FFFFFF"/>
          </a:solidFill>
          <a:ln w="19050">
            <a:solidFill>
              <a:srgbClr val="466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300216" y="2423160"/>
            <a:ext cx="502920" cy="502920"/>
          </a:xfrm>
          <a:prstGeom prst="ellipse">
            <a:avLst/>
          </a:prstGeom>
          <a:solidFill>
            <a:srgbClr val="18375A"/>
          </a:solidFill>
          <a:ln>
            <a:solidFill>
              <a:srgbClr val="1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6</a:t>
            </a:r>
          </a:p>
        </p:txBody>
      </p:sp>
      <p:sp>
        <p:nvSpPr>
          <p:cNvPr id="20" name="TextBox 19"/>
          <p:cNvSpPr txBox="1"/>
          <p:nvPr/>
        </p:nvSpPr>
        <p:spPr>
          <a:xfrm>
            <a:off x="6922008" y="2377440"/>
            <a:ext cx="3884140" cy="564257"/>
          </a:xfrm>
          <a:prstGeom prst="rect">
            <a:avLst/>
          </a:prstGeom>
          <a:noFill/>
        </p:spPr>
        <p:txBody>
          <a:bodyPr wrap="none">
            <a:spAutoFit/>
          </a:bodyPr>
          <a:lstStyle/>
          <a:p>
            <a:pPr>
              <a:defRPr sz="1700" b="1">
                <a:solidFill>
                  <a:srgbClr val="18375A"/>
                </a:solidFill>
              </a:defRPr>
            </a:pPr>
            <a:r>
              <a:rPr dirty="0"/>
              <a:t>Graph Autoencoder (GAE)</a:t>
            </a:r>
          </a:p>
          <a:p>
            <a:pPr>
              <a:spcBef>
                <a:spcPts val="200"/>
              </a:spcBef>
              <a:defRPr sz="1150">
                <a:solidFill>
                  <a:srgbClr val="37414B"/>
                </a:solidFill>
              </a:defRPr>
            </a:pPr>
            <a:r>
              <a:rPr lang="en-US" sz="1200" dirty="0">
                <a:solidFill>
                  <a:srgbClr val="232D37"/>
                </a:solidFill>
                <a:latin typeface="Aptos"/>
              </a:rPr>
              <a:t> Learns client patterns and identifies abnormal behavior.</a:t>
            </a:r>
            <a:endParaRPr dirty="0"/>
          </a:p>
        </p:txBody>
      </p:sp>
      <p:sp>
        <p:nvSpPr>
          <p:cNvPr id="21" name="Rounded Rectangle 20"/>
          <p:cNvSpPr/>
          <p:nvPr/>
        </p:nvSpPr>
        <p:spPr>
          <a:xfrm>
            <a:off x="6172200" y="3392424"/>
            <a:ext cx="5212080" cy="960120"/>
          </a:xfrm>
          <a:prstGeom prst="roundRect">
            <a:avLst/>
          </a:prstGeom>
          <a:solidFill>
            <a:srgbClr val="FFFFFF"/>
          </a:solidFill>
          <a:ln w="19050">
            <a:solidFill>
              <a:srgbClr val="466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300216" y="3547872"/>
            <a:ext cx="502920" cy="502920"/>
          </a:xfrm>
          <a:prstGeom prst="ellipse">
            <a:avLst/>
          </a:prstGeom>
          <a:solidFill>
            <a:srgbClr val="18375A"/>
          </a:solidFill>
          <a:ln>
            <a:solidFill>
              <a:srgbClr val="1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7</a:t>
            </a:r>
          </a:p>
        </p:txBody>
      </p:sp>
      <p:sp>
        <p:nvSpPr>
          <p:cNvPr id="23" name="TextBox 22"/>
          <p:cNvSpPr txBox="1"/>
          <p:nvPr/>
        </p:nvSpPr>
        <p:spPr>
          <a:xfrm>
            <a:off x="6922008" y="3502152"/>
            <a:ext cx="3853876" cy="564257"/>
          </a:xfrm>
          <a:prstGeom prst="rect">
            <a:avLst/>
          </a:prstGeom>
          <a:noFill/>
        </p:spPr>
        <p:txBody>
          <a:bodyPr wrap="none">
            <a:spAutoFit/>
          </a:bodyPr>
          <a:lstStyle/>
          <a:p>
            <a:pPr>
              <a:defRPr sz="1700" b="1">
                <a:solidFill>
                  <a:srgbClr val="18375A"/>
                </a:solidFill>
              </a:defRPr>
            </a:pPr>
            <a:r>
              <a:rPr dirty="0"/>
              <a:t>Anomaly &amp; Trust Score</a:t>
            </a:r>
          </a:p>
          <a:p>
            <a:pPr>
              <a:spcBef>
                <a:spcPts val="200"/>
              </a:spcBef>
              <a:defRPr sz="1150">
                <a:solidFill>
                  <a:srgbClr val="37414B"/>
                </a:solidFill>
              </a:defRPr>
            </a:pPr>
            <a:r>
              <a:rPr lang="en-US" sz="1200" dirty="0">
                <a:solidFill>
                  <a:srgbClr val="232D37"/>
                </a:solidFill>
                <a:latin typeface="Aptos"/>
              </a:rPr>
              <a:t>Measures how abnormal and trustworthy each client .</a:t>
            </a:r>
            <a:endParaRPr dirty="0"/>
          </a:p>
        </p:txBody>
      </p:sp>
      <p:sp>
        <p:nvSpPr>
          <p:cNvPr id="24" name="Rounded Rectangle 23"/>
          <p:cNvSpPr/>
          <p:nvPr/>
        </p:nvSpPr>
        <p:spPr>
          <a:xfrm>
            <a:off x="6172200" y="4517136"/>
            <a:ext cx="5212080" cy="960120"/>
          </a:xfrm>
          <a:prstGeom prst="roundRect">
            <a:avLst/>
          </a:prstGeom>
          <a:solidFill>
            <a:srgbClr val="FFFFFF"/>
          </a:solidFill>
          <a:ln w="19050">
            <a:solidFill>
              <a:srgbClr val="466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300216" y="4672583"/>
            <a:ext cx="502920" cy="502920"/>
          </a:xfrm>
          <a:prstGeom prst="ellipse">
            <a:avLst/>
          </a:prstGeom>
          <a:solidFill>
            <a:srgbClr val="18375A"/>
          </a:solidFill>
          <a:ln>
            <a:solidFill>
              <a:srgbClr val="18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8</a:t>
            </a:r>
          </a:p>
        </p:txBody>
      </p:sp>
      <p:sp>
        <p:nvSpPr>
          <p:cNvPr id="26" name="TextBox 25"/>
          <p:cNvSpPr txBox="1"/>
          <p:nvPr/>
        </p:nvSpPr>
        <p:spPr>
          <a:xfrm>
            <a:off x="6922008" y="4626864"/>
            <a:ext cx="4297680" cy="713232"/>
          </a:xfrm>
          <a:prstGeom prst="rect">
            <a:avLst/>
          </a:prstGeom>
          <a:noFill/>
        </p:spPr>
        <p:txBody>
          <a:bodyPr wrap="none">
            <a:spAutoFit/>
          </a:bodyPr>
          <a:lstStyle/>
          <a:p>
            <a:pPr>
              <a:defRPr sz="1700" b="1">
                <a:solidFill>
                  <a:srgbClr val="18375A"/>
                </a:solidFill>
              </a:defRPr>
            </a:pPr>
            <a:r>
              <a:rPr dirty="0"/>
              <a:t>Malicious Client Detection</a:t>
            </a:r>
          </a:p>
          <a:p>
            <a:pPr>
              <a:spcBef>
                <a:spcPts val="200"/>
              </a:spcBef>
              <a:defRPr sz="1150">
                <a:solidFill>
                  <a:srgbClr val="37414B"/>
                </a:solidFill>
              </a:defRPr>
            </a:pPr>
            <a:r>
              <a:rPr dirty="0"/>
              <a:t>Identifies suspicious clients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IN" sz="4400" b="1" u="none" strike="noStrike">
                <a:solidFill>
                  <a:srgbClr val="142D4B"/>
                </a:solidFill>
                <a:effectLst/>
                <a:uFillTx/>
                <a:latin typeface="Aptos Display"/>
              </a:rPr>
              <a:t>Simulation of Project</a:t>
            </a:r>
            <a:endParaRPr lang="en-US" sz="4400" b="0" u="none" strike="noStrike">
              <a:solidFill>
                <a:schemeClr val="dk1"/>
              </a:solidFill>
              <a:effectLst/>
              <a:uFillTx/>
              <a:latin typeface="Calibri"/>
            </a:endParaRPr>
          </a:p>
        </p:txBody>
      </p:sp>
      <p:sp>
        <p:nvSpPr>
          <p:cNvPr id="75"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fontScale="85000" lnSpcReduction="19999"/>
          </a:bodyPr>
          <a:lstStyle/>
          <a:p>
            <a:pPr marL="228600" indent="-228600" defTabSz="914400">
              <a:lnSpc>
                <a:spcPct val="119999"/>
              </a:lnSpc>
              <a:spcBef>
                <a:spcPts val="1001"/>
              </a:spcBef>
              <a:buClr>
                <a:srgbClr val="232D37"/>
              </a:buClr>
              <a:buFont typeface="Arial"/>
              <a:buChar char="•"/>
            </a:pPr>
            <a:r>
              <a:rPr lang="en-US" sz="2600" b="0" u="none" strike="noStrike" dirty="0">
                <a:solidFill>
                  <a:srgbClr val="232D37"/>
                </a:solidFill>
                <a:effectLst/>
                <a:uFillTx/>
                <a:latin typeface="Aptos"/>
              </a:rPr>
              <a:t>The proposed system is simulated as a federated wireless edge network consisting of multiple edge clients. Each client performs local model training using its own portion of the MNIST dataset. Some clients are considered malicious clients and perform a label-flipping poisoning attack.</a:t>
            </a:r>
            <a:endParaRPr lang="en-US" sz="2600" b="0" u="none" strike="noStrike" dirty="0">
              <a:solidFill>
                <a:schemeClr val="dk1"/>
              </a:solidFill>
              <a:effectLst/>
              <a:uFillTx/>
              <a:latin typeface="Calibri"/>
            </a:endParaRPr>
          </a:p>
          <a:p>
            <a:pPr marL="228600" indent="-228600" defTabSz="914400">
              <a:lnSpc>
                <a:spcPct val="119999"/>
              </a:lnSpc>
              <a:spcBef>
                <a:spcPts val="1001"/>
              </a:spcBef>
              <a:buClr>
                <a:srgbClr val="232D37"/>
              </a:buClr>
              <a:buFont typeface="Arial"/>
              <a:buChar char="•"/>
            </a:pPr>
            <a:r>
              <a:rPr lang="en-US" sz="2600" b="0" u="none" strike="noStrike" dirty="0">
                <a:solidFill>
                  <a:srgbClr val="232D37"/>
                </a:solidFill>
                <a:effectLst/>
                <a:uFillTx/>
                <a:latin typeface="Aptos"/>
              </a:rPr>
              <a:t>The trained client models are aggregated using Federated Averaging (</a:t>
            </a:r>
            <a:r>
              <a:rPr lang="en-US" sz="2600" b="0" u="none" strike="noStrike" dirty="0" err="1">
                <a:solidFill>
                  <a:srgbClr val="232D37"/>
                </a:solidFill>
                <a:effectLst/>
                <a:uFillTx/>
                <a:latin typeface="Aptos"/>
              </a:rPr>
              <a:t>FedAvg</a:t>
            </a:r>
            <a:r>
              <a:rPr lang="en-US" sz="2600" b="0" u="none" strike="noStrike" dirty="0">
                <a:solidFill>
                  <a:srgbClr val="232D37"/>
                </a:solidFill>
                <a:effectLst/>
                <a:uFillTx/>
                <a:latin typeface="Aptos"/>
              </a:rPr>
              <a:t>) to obtain the global model. The client model updates are then analyzed to identify relationships between clients. A client similarity graph is constructed, and a Graph Autoencoder (GAE) is used to learn the normal behavior and relationships among clients.</a:t>
            </a:r>
            <a:endParaRPr lang="en-US" sz="2600" b="0" u="none" strike="noStrike" dirty="0">
              <a:solidFill>
                <a:schemeClr val="dk1"/>
              </a:solidFill>
              <a:effectLst/>
              <a:uFillTx/>
              <a:latin typeface="Calibri"/>
            </a:endParaRPr>
          </a:p>
          <a:p>
            <a:pPr marL="228600" indent="-228600" defTabSz="914400">
              <a:lnSpc>
                <a:spcPct val="119999"/>
              </a:lnSpc>
              <a:spcBef>
                <a:spcPts val="1001"/>
              </a:spcBef>
              <a:buClr>
                <a:srgbClr val="232D37"/>
              </a:buClr>
              <a:buFont typeface="Arial"/>
              <a:buChar char="•"/>
            </a:pPr>
            <a:r>
              <a:rPr lang="en-US" sz="2600" b="0" u="none" strike="noStrike" dirty="0">
                <a:solidFill>
                  <a:srgbClr val="232D37"/>
                </a:solidFill>
                <a:effectLst/>
                <a:uFillTx/>
                <a:latin typeface="Aptos"/>
              </a:rPr>
              <a:t>Finally, anomaly scores and trust scores are calculated to identify suspicious or potentially malicious clients</a:t>
            </a:r>
            <a:endParaRPr lang="en-US" sz="2600" b="0" u="none" strike="noStrike" dirty="0">
              <a:solidFill>
                <a:schemeClr val="dk1"/>
              </a:solidFill>
              <a:effectLst/>
              <a:uFillTx/>
              <a:latin typeface="Calibri"/>
            </a:endParaRPr>
          </a:p>
          <a:p>
            <a:pPr indent="0" defTabSz="914400">
              <a:lnSpc>
                <a:spcPct val="90000"/>
              </a:lnSpc>
              <a:spcBef>
                <a:spcPts val="1001"/>
              </a:spcBef>
              <a:buNone/>
            </a:pPr>
            <a:endParaRPr lang="en-US" sz="2800" b="0" u="none" strike="noStrike" dirty="0">
              <a:solidFill>
                <a:schemeClr val="dk1"/>
              </a:solidFill>
              <a:effectLst/>
              <a:uFillTx/>
              <a:latin typeface="Calibri"/>
            </a:endParaRPr>
          </a:p>
        </p:txBody>
      </p:sp>
      <p:sp>
        <p:nvSpPr>
          <p:cNvPr id="76" name="Rectangle 3"/>
          <p:cNvSpPr/>
          <p:nvPr/>
        </p:nvSpPr>
        <p:spPr>
          <a:xfrm>
            <a:off x="0" y="0"/>
            <a:ext cx="12191760" cy="219600"/>
          </a:xfrm>
          <a:prstGeom prst="rect">
            <a:avLst/>
          </a:prstGeom>
          <a:solidFill>
            <a:srgbClr val="142D4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7" name="Rectangle 4"/>
          <p:cNvSpPr/>
          <p:nvPr/>
        </p:nvSpPr>
        <p:spPr>
          <a:xfrm>
            <a:off x="0" y="6768000"/>
            <a:ext cx="12191760" cy="8964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IN" sz="4400" b="1" u="none" strike="noStrike">
                <a:solidFill>
                  <a:srgbClr val="142D4B"/>
                </a:solidFill>
                <a:effectLst/>
                <a:uFillTx/>
                <a:latin typeface="Aptos Display"/>
              </a:rPr>
              <a:t>Experimental Results</a:t>
            </a:r>
            <a:endParaRPr lang="en-US" sz="4400" b="0" u="none" strike="noStrike">
              <a:solidFill>
                <a:schemeClr val="dk1"/>
              </a:solidFill>
              <a:effectLst/>
              <a:uFillTx/>
              <a:latin typeface="Calibri"/>
            </a:endParaRPr>
          </a:p>
        </p:txBody>
      </p:sp>
      <p:sp>
        <p:nvSpPr>
          <p:cNvPr id="80" name="Rectangle 4"/>
          <p:cNvSpPr/>
          <p:nvPr/>
        </p:nvSpPr>
        <p:spPr>
          <a:xfrm>
            <a:off x="0" y="0"/>
            <a:ext cx="12191760" cy="219600"/>
          </a:xfrm>
          <a:prstGeom prst="rect">
            <a:avLst/>
          </a:prstGeom>
          <a:solidFill>
            <a:srgbClr val="142D4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1" name="Rectangle 5"/>
          <p:cNvSpPr/>
          <p:nvPr/>
        </p:nvSpPr>
        <p:spPr>
          <a:xfrm>
            <a:off x="0" y="6768000"/>
            <a:ext cx="12191760" cy="8964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82" name="Picture 81" descr="accuracy.png"/>
          <p:cNvPicPr>
            <a:picLocks noChangeAspect="1"/>
          </p:cNvPicPr>
          <p:nvPr/>
        </p:nvPicPr>
        <p:blipFill>
          <a:blip r:embed="rId2"/>
          <a:stretch>
            <a:fillRect/>
          </a:stretch>
        </p:blipFill>
        <p:spPr>
          <a:xfrm>
            <a:off x="411480" y="1965960"/>
            <a:ext cx="3657600" cy="2377440"/>
          </a:xfrm>
          <a:prstGeom prst="rect">
            <a:avLst/>
          </a:prstGeom>
        </p:spPr>
      </p:pic>
      <p:pic>
        <p:nvPicPr>
          <p:cNvPr id="83" name="Picture 82" descr="anomaly.png"/>
          <p:cNvPicPr>
            <a:picLocks noChangeAspect="1"/>
          </p:cNvPicPr>
          <p:nvPr/>
        </p:nvPicPr>
        <p:blipFill>
          <a:blip r:embed="rId3"/>
          <a:stretch>
            <a:fillRect/>
          </a:stretch>
        </p:blipFill>
        <p:spPr>
          <a:xfrm>
            <a:off x="4261104" y="1965960"/>
            <a:ext cx="3657600" cy="2377440"/>
          </a:xfrm>
          <a:prstGeom prst="rect">
            <a:avLst/>
          </a:prstGeom>
        </p:spPr>
      </p:pic>
      <p:pic>
        <p:nvPicPr>
          <p:cNvPr id="84" name="Picture 83" descr="trust.png"/>
          <p:cNvPicPr>
            <a:picLocks noChangeAspect="1"/>
          </p:cNvPicPr>
          <p:nvPr/>
        </p:nvPicPr>
        <p:blipFill>
          <a:blip r:embed="rId4"/>
          <a:stretch>
            <a:fillRect/>
          </a:stretch>
        </p:blipFill>
        <p:spPr>
          <a:xfrm>
            <a:off x="8110727" y="1965960"/>
            <a:ext cx="3657600" cy="2377440"/>
          </a:xfrm>
          <a:prstGeom prst="rect">
            <a:avLst/>
          </a:prstGeom>
        </p:spPr>
      </p:pic>
      <p:sp>
        <p:nvSpPr>
          <p:cNvPr id="85" name="TextBox 84"/>
          <p:cNvSpPr txBox="1"/>
          <p:nvPr/>
        </p:nvSpPr>
        <p:spPr>
          <a:xfrm>
            <a:off x="594360" y="4617720"/>
            <a:ext cx="10972800" cy="1143000"/>
          </a:xfrm>
          <a:prstGeom prst="rect">
            <a:avLst/>
          </a:prstGeom>
          <a:noFill/>
        </p:spPr>
        <p:txBody>
          <a:bodyPr wrap="none">
            <a:spAutoFit/>
          </a:bodyPr>
          <a:lstStyle/>
          <a:p>
            <a:pPr>
              <a:defRPr sz="1900" b="1">
                <a:solidFill>
                  <a:srgbClr val="14375F"/>
                </a:solidFill>
              </a:defRPr>
            </a:pPr>
            <a:r>
              <a:t>What the outputs show</a:t>
            </a:r>
          </a:p>
          <a:p>
            <a:pPr>
              <a:defRPr sz="1400">
                <a:solidFill>
                  <a:srgbClr val="2D3746"/>
                </a:solidFill>
              </a:defRPr>
            </a:pPr>
            <a:r>
              <a:t>Accuracy graph: global CNN test accuracy across federated rounds.</a:t>
            </a:r>
          </a:p>
          <a:p>
            <a:pPr>
              <a:defRPr sz="1400">
                <a:solidFill>
                  <a:srgbClr val="2D3746"/>
                </a:solidFill>
              </a:defRPr>
            </a:pPr>
            <a:r>
              <a:t>Anomaly graph: clients above the detection threshold are flagged as suspicious; trust score decreases as anomaly increases.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428" y="0"/>
            <a:ext cx="12083143" cy="6858000"/>
          </a:xfrm>
          <a:prstGeom prst="rect">
            <a:avLst/>
          </a:prstGeom>
          <a:solidFill>
            <a:srgbClr val="F7FAFD"/>
          </a:solidFill>
          <a:ln w="25400">
            <a:solidFill>
              <a:srgbClr val="1F7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87624" y="1261005"/>
            <a:ext cx="3698385" cy="584775"/>
          </a:xfrm>
          <a:prstGeom prst="rect">
            <a:avLst/>
          </a:prstGeom>
          <a:noFill/>
        </p:spPr>
        <p:txBody>
          <a:bodyPr wrap="none">
            <a:spAutoFit/>
          </a:bodyPr>
          <a:lstStyle/>
          <a:p>
            <a:pPr algn="ctr">
              <a:defRPr sz="2200" b="1">
                <a:solidFill>
                  <a:srgbClr val="1F7055"/>
                </a:solidFill>
              </a:defRPr>
            </a:pPr>
            <a:r>
              <a:rPr lang="en-US" sz="3200" dirty="0"/>
              <a:t>CURRENT </a:t>
            </a:r>
            <a:r>
              <a:rPr sz="3200" dirty="0"/>
              <a:t>PROGRESS</a:t>
            </a:r>
          </a:p>
        </p:txBody>
      </p:sp>
      <p:sp>
        <p:nvSpPr>
          <p:cNvPr id="5" name="TextBox 4"/>
          <p:cNvSpPr txBox="1"/>
          <p:nvPr/>
        </p:nvSpPr>
        <p:spPr>
          <a:xfrm>
            <a:off x="822959" y="2148840"/>
            <a:ext cx="6622869" cy="2708434"/>
          </a:xfrm>
          <a:prstGeom prst="rect">
            <a:avLst/>
          </a:prstGeom>
          <a:noFill/>
        </p:spPr>
        <p:txBody>
          <a:bodyPr wrap="square">
            <a:spAutoFit/>
          </a:bodyPr>
          <a:lstStyle/>
          <a:p>
            <a:pPr>
              <a:spcAft>
                <a:spcPts val="1200"/>
              </a:spcAft>
              <a:defRPr sz="1600">
                <a:solidFill>
                  <a:srgbClr val="2D343E"/>
                </a:solidFill>
              </a:defRPr>
            </a:pPr>
            <a:r>
              <a:rPr sz="2000" dirty="0"/>
              <a:t>• Federated Learning environment created</a:t>
            </a:r>
          </a:p>
          <a:p>
            <a:pPr>
              <a:spcAft>
                <a:spcPts val="1200"/>
              </a:spcAft>
              <a:defRPr sz="1600">
                <a:solidFill>
                  <a:srgbClr val="2D343E"/>
                </a:solidFill>
              </a:defRPr>
            </a:pPr>
            <a:r>
              <a:rPr sz="2000" dirty="0"/>
              <a:t>• CNN model implemented for MNIST classification</a:t>
            </a:r>
          </a:p>
          <a:p>
            <a:pPr>
              <a:spcAft>
                <a:spcPts val="1200"/>
              </a:spcAft>
              <a:defRPr sz="1600">
                <a:solidFill>
                  <a:srgbClr val="2D343E"/>
                </a:solidFill>
              </a:defRPr>
            </a:pPr>
            <a:r>
              <a:rPr sz="2000" dirty="0"/>
              <a:t>• Label-flipping poisoning attack simulated</a:t>
            </a:r>
          </a:p>
          <a:p>
            <a:pPr>
              <a:spcAft>
                <a:spcPts val="1200"/>
              </a:spcAft>
              <a:defRPr sz="1600">
                <a:solidFill>
                  <a:srgbClr val="2D343E"/>
                </a:solidFill>
              </a:defRPr>
            </a:pPr>
            <a:r>
              <a:rPr sz="2000" dirty="0"/>
              <a:t>• </a:t>
            </a:r>
            <a:r>
              <a:rPr sz="2000" dirty="0" err="1"/>
              <a:t>FedAvg</a:t>
            </a:r>
            <a:r>
              <a:rPr sz="2000" dirty="0"/>
              <a:t> aggregation and client updates implemented</a:t>
            </a:r>
          </a:p>
          <a:p>
            <a:pPr>
              <a:spcAft>
                <a:spcPts val="1200"/>
              </a:spcAft>
              <a:defRPr sz="1600">
                <a:solidFill>
                  <a:srgbClr val="2D343E"/>
                </a:solidFill>
              </a:defRPr>
            </a:pPr>
            <a:r>
              <a:rPr sz="2000" dirty="0"/>
              <a:t>• Client similarity graph and GAE detection implemented</a:t>
            </a:r>
          </a:p>
          <a:p>
            <a:pPr>
              <a:spcAft>
                <a:spcPts val="1200"/>
              </a:spcAft>
              <a:defRPr sz="1600">
                <a:solidFill>
                  <a:srgbClr val="2D343E"/>
                </a:solidFill>
              </a:defRPr>
            </a:pPr>
            <a:r>
              <a:rPr sz="2000" dirty="0"/>
              <a:t>• Anomaly and trust scores calculated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5AB2-A4B6-E0E5-96A5-7AFC5FFA028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BFC967A-3376-DA8D-CFCA-9AEA7CA1D062}"/>
              </a:ext>
            </a:extLst>
          </p:cNvPr>
          <p:cNvSpPr/>
          <p:nvPr/>
        </p:nvSpPr>
        <p:spPr>
          <a:xfrm>
            <a:off x="54428" y="239486"/>
            <a:ext cx="12083143" cy="6291943"/>
          </a:xfrm>
          <a:prstGeom prst="rect">
            <a:avLst/>
          </a:prstGeom>
          <a:solidFill>
            <a:srgbClr val="F7FAFD"/>
          </a:solidFill>
          <a:ln w="25400">
            <a:solidFill>
              <a:srgbClr val="1F7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7E4DBB9-843C-5F88-9562-EDEF75E6AD51}"/>
              </a:ext>
            </a:extLst>
          </p:cNvPr>
          <p:cNvSpPr txBox="1"/>
          <p:nvPr/>
        </p:nvSpPr>
        <p:spPr>
          <a:xfrm>
            <a:off x="54428" y="1478720"/>
            <a:ext cx="3034329" cy="584775"/>
          </a:xfrm>
          <a:prstGeom prst="rect">
            <a:avLst/>
          </a:prstGeom>
          <a:noFill/>
        </p:spPr>
        <p:txBody>
          <a:bodyPr wrap="square">
            <a:spAutoFit/>
          </a:bodyPr>
          <a:lstStyle/>
          <a:p>
            <a:pPr algn="ctr">
              <a:defRPr sz="2200" b="1">
                <a:solidFill>
                  <a:srgbClr val="1F7055"/>
                </a:solidFill>
              </a:defRPr>
            </a:pPr>
            <a:r>
              <a:rPr lang="en-US" sz="3200" dirty="0"/>
              <a:t>Conclusion</a:t>
            </a:r>
            <a:endParaRPr sz="3200" dirty="0"/>
          </a:p>
        </p:txBody>
      </p:sp>
      <p:sp>
        <p:nvSpPr>
          <p:cNvPr id="5" name="TextBox 4">
            <a:extLst>
              <a:ext uri="{FF2B5EF4-FFF2-40B4-BE49-F238E27FC236}">
                <a16:creationId xmlns:a16="http://schemas.microsoft.com/office/drawing/2014/main" id="{733A4992-AA6B-776C-473D-12B6A350F88D}"/>
              </a:ext>
            </a:extLst>
          </p:cNvPr>
          <p:cNvSpPr txBox="1"/>
          <p:nvPr/>
        </p:nvSpPr>
        <p:spPr>
          <a:xfrm>
            <a:off x="544286" y="2148840"/>
            <a:ext cx="11517085" cy="1785104"/>
          </a:xfrm>
          <a:prstGeom prst="rect">
            <a:avLst/>
          </a:prstGeom>
          <a:noFill/>
        </p:spPr>
        <p:txBody>
          <a:bodyPr wrap="square">
            <a:spAutoFit/>
          </a:bodyPr>
          <a:lstStyle/>
          <a:p>
            <a:pPr>
              <a:spcAft>
                <a:spcPts val="1200"/>
              </a:spcAft>
              <a:defRPr sz="1600">
                <a:solidFill>
                  <a:srgbClr val="2D343E"/>
                </a:solidFill>
              </a:defRPr>
            </a:pPr>
            <a:r>
              <a:rPr lang="en-US" sz="2200" dirty="0">
                <a:solidFill>
                  <a:srgbClr val="2D343E"/>
                </a:solidFill>
              </a:rPr>
              <a:t>This project proposes a Graph Autoencoder (GAE)-based approach to detect poisoning attacks in Federated Learning by analyzing client model updates, similarity graphs, anomaly scores, and trust scores. The experimental results demonstrate the feasibility of the proposed approach, but further improvements are needed to increase detection accuracy, reduce false positives, and enhance the security and reliability of federated wireless edge networks.</a:t>
            </a:r>
            <a:endParaRPr sz="2200" dirty="0"/>
          </a:p>
        </p:txBody>
      </p:sp>
    </p:spTree>
    <p:extLst>
      <p:ext uri="{BB962C8B-B14F-4D97-AF65-F5344CB8AC3E}">
        <p14:creationId xmlns:p14="http://schemas.microsoft.com/office/powerpoint/2010/main" val="2328966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2190600"/>
            <a:ext cx="10515240" cy="1636560"/>
          </a:xfrm>
          <a:prstGeom prst="rect">
            <a:avLst/>
          </a:prstGeom>
          <a:noFill/>
          <a:ln w="0">
            <a:noFill/>
          </a:ln>
        </p:spPr>
        <p:txBody>
          <a:bodyPr lIns="91440" tIns="45720" rIns="91440" bIns="45720" anchor="b">
            <a:noAutofit/>
          </a:bodyPr>
          <a:lstStyle/>
          <a:p>
            <a:pPr indent="0" algn="ctr" defTabSz="914400">
              <a:lnSpc>
                <a:spcPct val="90000"/>
              </a:lnSpc>
              <a:buNone/>
            </a:pPr>
            <a:r>
              <a:rPr lang="en-IN" sz="6000" b="0" u="none" strike="noStrike">
                <a:solidFill>
                  <a:srgbClr val="232D37"/>
                </a:solidFill>
                <a:effectLst/>
                <a:uFillTx/>
                <a:latin typeface="Aptos"/>
              </a:rPr>
              <a:t>THANKS</a:t>
            </a:r>
            <a:endParaRPr lang="en-US" sz="6000" b="0" u="none" strike="noStrike">
              <a:solidFill>
                <a:schemeClr val="dk1"/>
              </a:solidFill>
              <a:effectLst/>
              <a:uFillTx/>
              <a:latin typeface="Calibri"/>
            </a:endParaRPr>
          </a:p>
        </p:txBody>
      </p:sp>
      <p:sp>
        <p:nvSpPr>
          <p:cNvPr id="87" name="Rectangle 2"/>
          <p:cNvSpPr/>
          <p:nvPr/>
        </p:nvSpPr>
        <p:spPr>
          <a:xfrm>
            <a:off x="0" y="0"/>
            <a:ext cx="12191760" cy="219600"/>
          </a:xfrm>
          <a:prstGeom prst="rect">
            <a:avLst/>
          </a:prstGeom>
          <a:solidFill>
            <a:srgbClr val="142D4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 name="Rectangle 3"/>
          <p:cNvSpPr/>
          <p:nvPr/>
        </p:nvSpPr>
        <p:spPr>
          <a:xfrm>
            <a:off x="0" y="6768000"/>
            <a:ext cx="12191760" cy="8964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346</TotalTime>
  <Words>685</Words>
  <Application>Microsoft Office PowerPoint</Application>
  <PresentationFormat>Widescreen</PresentationFormat>
  <Paragraphs>67</Paragraphs>
  <Slides>10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Aptos Display</vt:lpstr>
      <vt:lpstr>Arial</vt:lpstr>
      <vt:lpstr>Calibri</vt:lpstr>
      <vt:lpstr>Calibri Light</vt:lpstr>
      <vt:lpstr>Symbol</vt:lpstr>
      <vt:lpstr>Times New Roman</vt:lpstr>
      <vt:lpstr>Wingdings</vt:lpstr>
      <vt:lpstr>Office Theme</vt:lpstr>
      <vt:lpstr>Graph Autoencoder-Based Trust and Poisoning Detection for Federated Wireless Edge Networks</vt:lpstr>
      <vt:lpstr>Introduction</vt:lpstr>
      <vt:lpstr>Problem Statement</vt:lpstr>
      <vt:lpstr>Proposed Methodology</vt:lpstr>
      <vt:lpstr>PowerPoint Presentation</vt:lpstr>
      <vt:lpstr>Simulation of Project</vt:lpstr>
      <vt:lpstr>Experimental Results</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dc:creator>
  <cp:lastModifiedBy>DELL</cp:lastModifiedBy>
  <cp:revision>7</cp:revision>
  <dcterms:modified xsi:type="dcterms:W3CDTF">2026-10-15T05:25:47Z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2026-09-28T05:39:52Z</dcterms:created>
  <dc:creator>Paidi Sreeja</dc:creator>
  <dc:description/>
  <dc:language>en-US</dc:language>
  <cp:lastModifiedBy>Paidi Sreeja</cp:lastModifiedBy>
  <dcterms:modified xsi:type="dcterms:W3CDTF">2026-09-28T16:31:28Z</dcterms:modified>
  <cp:revision>14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r8>8</vt:r8>
  </property>
</Properties>
</file>